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75" r:id="rId4"/>
    <p:sldId id="267" r:id="rId5"/>
    <p:sldId id="274" r:id="rId6"/>
    <p:sldId id="271" r:id="rId7"/>
    <p:sldId id="268" r:id="rId8"/>
    <p:sldId id="272" r:id="rId9"/>
    <p:sldId id="262" r:id="rId10"/>
    <p:sldId id="263" r:id="rId11"/>
    <p:sldId id="270" r:id="rId12"/>
    <p:sldId id="277" r:id="rId13"/>
    <p:sldId id="278" r:id="rId14"/>
    <p:sldId id="273" r:id="rId15"/>
    <p:sldId id="260" r:id="rId16"/>
    <p:sldId id="257" r:id="rId17"/>
    <p:sldId id="259" r:id="rId18"/>
    <p:sldId id="26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645A8B-14EB-4405-9B3F-EF7BD8E6EDB3}" v="22" dt="2025-11-05T18:24:14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000" y="1122363"/>
            <a:ext cx="10740000" cy="2327600"/>
          </a:xfrm>
        </p:spPr>
        <p:txBody>
          <a:bodyPr>
            <a:noAutofit/>
          </a:bodyPr>
          <a:lstStyle/>
          <a:p>
            <a:r>
              <a:rPr lang="en-US" sz="5400" dirty="0"/>
              <a:t>Surrogate modeling for efficient science with tensor completion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chemeClr val="bg2">
                    <a:lumMod val="49000"/>
                  </a:schemeClr>
                </a:solidFill>
              </a:rPr>
              <a:t>Shaan Pakala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A0B02-2FFE-68DD-74A4-4E484CD8A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8F8CB-30C2-3043-7E7D-D2034E501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Background</a:t>
            </a:r>
          </a:p>
          <a:p>
            <a:r>
              <a:rPr lang="en-US" dirty="0"/>
              <a:t>Automating Data Science Pipelines with Tensor Completion</a:t>
            </a:r>
          </a:p>
          <a:p>
            <a:r>
              <a:rPr lang="en-US" dirty="0"/>
              <a:t>Surrogate Modeling for the Design of Optimal Lattice Structures using Tensor Completion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5414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ABF6-0475-96B1-2CCB-A3E2A08D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794E8-FB39-8A87-2E79-7D80FFCD6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A45B3-955A-E7BB-5AC9-8664EBBB0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Background</a:t>
            </a:r>
          </a:p>
          <a:p>
            <a:r>
              <a:rPr lang="en-US" dirty="0"/>
              <a:t>Automating Data Science Pipelines with Tensor Completion</a:t>
            </a:r>
          </a:p>
          <a:p>
            <a:r>
              <a:rPr lang="en-US" dirty="0"/>
              <a:t>Surrogate Modeling for the Design of Optimal Lattice Structures using Tensor Completion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21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C312F-F0EE-9ACE-4E98-E44F51E04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89B585-C601-E53E-D1DB-2063FC722060}"/>
              </a:ext>
            </a:extLst>
          </p:cNvPr>
          <p:cNvSpPr/>
          <p:nvPr/>
        </p:nvSpPr>
        <p:spPr>
          <a:xfrm>
            <a:off x="1068000" y="2016000"/>
            <a:ext cx="552000" cy="30600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F264D4-05A4-B8AD-E173-4C86D9A269DB}"/>
              </a:ext>
            </a:extLst>
          </p:cNvPr>
          <p:cNvSpPr/>
          <p:nvPr/>
        </p:nvSpPr>
        <p:spPr>
          <a:xfrm>
            <a:off x="3119999" y="2016000"/>
            <a:ext cx="3192000" cy="306000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be 5">
            <a:extLst>
              <a:ext uri="{FF2B5EF4-FFF2-40B4-BE49-F238E27FC236}">
                <a16:creationId xmlns:a16="http://schemas.microsoft.com/office/drawing/2014/main" id="{5D344790-1000-9D8B-1C93-4618858A7F7D}"/>
              </a:ext>
            </a:extLst>
          </p:cNvPr>
          <p:cNvSpPr/>
          <p:nvPr/>
        </p:nvSpPr>
        <p:spPr>
          <a:xfrm>
            <a:off x="7284000" y="1092000"/>
            <a:ext cx="4416000" cy="3984000"/>
          </a:xfrm>
          <a:prstGeom prst="cub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520484-D889-C435-E17E-AB03E2B61FE5}"/>
              </a:ext>
            </a:extLst>
          </p:cNvPr>
          <p:cNvSpPr txBox="1"/>
          <p:nvPr/>
        </p:nvSpPr>
        <p:spPr>
          <a:xfrm>
            <a:off x="780000" y="5268000"/>
            <a:ext cx="1128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1st Order (vector)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946E9B-6ED2-9924-17B9-F66304413755}"/>
              </a:ext>
            </a:extLst>
          </p:cNvPr>
          <p:cNvSpPr txBox="1"/>
          <p:nvPr/>
        </p:nvSpPr>
        <p:spPr>
          <a:xfrm>
            <a:off x="4055999" y="5268000"/>
            <a:ext cx="1224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2nd Order (matrix)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820E07-0DB0-88F0-45B2-F59EB11D3D37}"/>
              </a:ext>
            </a:extLst>
          </p:cNvPr>
          <p:cNvSpPr txBox="1"/>
          <p:nvPr/>
        </p:nvSpPr>
        <p:spPr>
          <a:xfrm>
            <a:off x="8531998" y="5268000"/>
            <a:ext cx="12240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3rd Order and above (tensor)</a:t>
            </a:r>
          </a:p>
        </p:txBody>
      </p:sp>
    </p:spTree>
    <p:extLst>
      <p:ext uri="{BB962C8B-B14F-4D97-AF65-F5344CB8AC3E}">
        <p14:creationId xmlns:p14="http://schemas.microsoft.com/office/powerpoint/2010/main" val="1473290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847F8-D7C6-AA0E-18DC-FAA67458B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Decomposition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5D96717-51E7-CC63-92C9-E04639C9E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7875" y="2368694"/>
            <a:ext cx="3524250" cy="3505200"/>
          </a:xfrm>
          <a:prstGeom prst="rect">
            <a:avLst/>
          </a:prstGeom>
          <a:ln>
            <a:noFill/>
          </a:ln>
        </p:spPr>
      </p:pic>
      <p:sp>
        <p:nvSpPr>
          <p:cNvPr id="6" name="Cube 5">
            <a:extLst>
              <a:ext uri="{FF2B5EF4-FFF2-40B4-BE49-F238E27FC236}">
                <a16:creationId xmlns:a16="http://schemas.microsoft.com/office/drawing/2014/main" id="{BA536B9D-2BD2-BDEB-4046-407F516C8444}"/>
              </a:ext>
            </a:extLst>
          </p:cNvPr>
          <p:cNvSpPr/>
          <p:nvPr/>
        </p:nvSpPr>
        <p:spPr>
          <a:xfrm>
            <a:off x="1272000" y="2406000"/>
            <a:ext cx="3696000" cy="3468000"/>
          </a:xfrm>
          <a:prstGeom prst="cub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E054C-18E4-BA41-CEF2-683D4F427752}"/>
              </a:ext>
            </a:extLst>
          </p:cNvPr>
          <p:cNvSpPr txBox="1"/>
          <p:nvPr/>
        </p:nvSpPr>
        <p:spPr>
          <a:xfrm>
            <a:off x="1734000" y="6066000"/>
            <a:ext cx="207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/>
              <a:t>Tensor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3CBBC-989C-9F78-D9E4-06AD14EA17C4}"/>
              </a:ext>
            </a:extLst>
          </p:cNvPr>
          <p:cNvSpPr txBox="1"/>
          <p:nvPr/>
        </p:nvSpPr>
        <p:spPr>
          <a:xfrm>
            <a:off x="8532000" y="6030000"/>
            <a:ext cx="207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dirty="0"/>
              <a:t>Factors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BD91D-0122-3CC5-B399-CF399DC68E3D}"/>
              </a:ext>
            </a:extLst>
          </p:cNvPr>
          <p:cNvSpPr txBox="1"/>
          <p:nvPr/>
        </p:nvSpPr>
        <p:spPr>
          <a:xfrm>
            <a:off x="5658000" y="3528000"/>
            <a:ext cx="852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200" dirty="0"/>
              <a:t>≈</a:t>
            </a:r>
          </a:p>
        </p:txBody>
      </p:sp>
      <p:pic>
        <p:nvPicPr>
          <p:cNvPr id="13" name="Picture 12" descr="A group of black letters&#10;&#10;AI-generated content may be incorrect.">
            <a:extLst>
              <a:ext uri="{FF2B5EF4-FFF2-40B4-BE49-F238E27FC236}">
                <a16:creationId xmlns:a16="http://schemas.microsoft.com/office/drawing/2014/main" id="{B3DAD519-5EE9-2819-0D29-B02D4598C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750" y="1592325"/>
            <a:ext cx="2206500" cy="769350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83786E-B8D8-725F-D9E6-9ECA082B4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975" y="4287375"/>
            <a:ext cx="1198050" cy="557250"/>
          </a:xfrm>
          <a:prstGeom prst="rect">
            <a:avLst/>
          </a:prstGeom>
          <a:ln>
            <a:noFill/>
          </a:ln>
        </p:spPr>
      </p:pic>
      <p:pic>
        <p:nvPicPr>
          <p:cNvPr id="16" name="Picture 15" descr="A close-up of a letter&#10;&#10;AI-generated content may be incorrect.">
            <a:extLst>
              <a:ext uri="{FF2B5EF4-FFF2-40B4-BE49-F238E27FC236}">
                <a16:creationId xmlns:a16="http://schemas.microsoft.com/office/drawing/2014/main" id="{A5F623CB-072C-392C-59CC-05B6BEA51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975" y="1840800"/>
            <a:ext cx="1192050" cy="566400"/>
          </a:xfrm>
          <a:prstGeom prst="rect">
            <a:avLst/>
          </a:prstGeom>
          <a:ln>
            <a:noFill/>
          </a:ln>
        </p:spPr>
      </p:pic>
      <p:pic>
        <p:nvPicPr>
          <p:cNvPr id="17" name="Picture 16" descr="A black letter x and a white background&#10;&#10;AI-generated content may be incorrect.">
            <a:extLst>
              <a:ext uri="{FF2B5EF4-FFF2-40B4-BE49-F238E27FC236}">
                <a16:creationId xmlns:a16="http://schemas.microsoft.com/office/drawing/2014/main" id="{E1963E5C-FEA6-ADAC-0225-6FC5C7AFA1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63675" y="2852325"/>
            <a:ext cx="1210650" cy="5713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5489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C70A9-3280-150C-A75B-350782B4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Decomposition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693475-53F8-3C0A-0B9D-95CF79275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0847" y="1525625"/>
            <a:ext cx="10486306" cy="4351338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3531ED-2FFB-5EF1-4039-EA7A8CAA2173}"/>
              </a:ext>
            </a:extLst>
          </p:cNvPr>
          <p:cNvSpPr txBox="1"/>
          <p:nvPr/>
        </p:nvSpPr>
        <p:spPr>
          <a:xfrm>
            <a:off x="378000" y="6168000"/>
            <a:ext cx="759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Figure from  Toudeshki </a:t>
            </a:r>
            <a:r>
              <a:rPr lang="en-US" i="1" dirty="0"/>
              <a:t>Medium </a:t>
            </a:r>
            <a:r>
              <a:rPr lang="en-US" dirty="0"/>
              <a:t>(2020)</a:t>
            </a:r>
          </a:p>
        </p:txBody>
      </p:sp>
    </p:spTree>
    <p:extLst>
      <p:ext uri="{BB962C8B-B14F-4D97-AF65-F5344CB8AC3E}">
        <p14:creationId xmlns:p14="http://schemas.microsoft.com/office/powerpoint/2010/main" val="2642412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8789C-E473-B430-DFA6-0A5DE2735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Tensor Completion</a:t>
            </a:r>
          </a:p>
        </p:txBody>
      </p:sp>
      <p:pic>
        <p:nvPicPr>
          <p:cNvPr id="6" name="Content Placeholder 3" descr="A diagram of a machine&#10;&#10;AI-generated content may be incorrect.">
            <a:extLst>
              <a:ext uri="{FF2B5EF4-FFF2-40B4-BE49-F238E27FC236}">
                <a16:creationId xmlns:a16="http://schemas.microsoft.com/office/drawing/2014/main" id="{C24DE4B8-1B0A-A504-C835-ABC500C9EC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8000" y="1826200"/>
            <a:ext cx="9042000" cy="420618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280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5ED49-7218-139C-4EBD-1A287155B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3530F-E872-319A-AE90-2717AB57D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77AB3-51E0-EFF9-CEC6-6927A7479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Background</a:t>
            </a:r>
          </a:p>
          <a:p>
            <a:r>
              <a:rPr lang="en-US" b="1" dirty="0">
                <a:solidFill>
                  <a:srgbClr val="0070C0"/>
                </a:solidFill>
              </a:rPr>
              <a:t>Automating Data Science Pipelines with Tensor Completion</a:t>
            </a:r>
          </a:p>
          <a:p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Surrogate Modeling for the Design of Optimal Lattice Structures using Tensor Completion</a:t>
            </a:r>
            <a:endParaRPr 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767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1F5B08F-EFCE-0C00-2441-AA2DAFCB5A81}"/>
              </a:ext>
            </a:extLst>
          </p:cNvPr>
          <p:cNvSpPr txBox="1"/>
          <p:nvPr/>
        </p:nvSpPr>
        <p:spPr>
          <a:xfrm>
            <a:off x="378000" y="6168000"/>
            <a:ext cx="7590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Figure from Bergstra et al. </a:t>
            </a:r>
            <a:r>
              <a:rPr lang="en-US" i="1" dirty="0"/>
              <a:t>Journal of Machine Learning Research </a:t>
            </a:r>
            <a:r>
              <a:rPr lang="en-US" dirty="0"/>
              <a:t>(2012)</a:t>
            </a:r>
          </a:p>
        </p:txBody>
      </p:sp>
      <p:pic>
        <p:nvPicPr>
          <p:cNvPr id="16" name="Picture 15" descr="A diagram of a tree&#10;&#10;AI-generated content may be incorrect.">
            <a:extLst>
              <a:ext uri="{FF2B5EF4-FFF2-40B4-BE49-F238E27FC236}">
                <a16:creationId xmlns:a16="http://schemas.microsoft.com/office/drawing/2014/main" id="{F5B46E34-85DF-3C08-86A9-6F65DEA85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00" y="1513956"/>
            <a:ext cx="3801283" cy="3955781"/>
          </a:xfrm>
          <a:prstGeom prst="rect">
            <a:avLst/>
          </a:prstGeom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B0D7C00-8A6B-AE50-5B17-E4C5CB11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925" y="2226148"/>
            <a:ext cx="6821353" cy="3077706"/>
          </a:xfrm>
          <a:prstGeom prst="rect">
            <a:avLst/>
          </a:prstGeom>
          <a:ln>
            <a:noFill/>
          </a:ln>
        </p:spPr>
      </p:pic>
      <p:sp>
        <p:nvSpPr>
          <p:cNvPr id="23" name="Arrow: Right 22">
            <a:extLst>
              <a:ext uri="{FF2B5EF4-FFF2-40B4-BE49-F238E27FC236}">
                <a16:creationId xmlns:a16="http://schemas.microsoft.com/office/drawing/2014/main" id="{5BCDD508-3C79-5045-BBC6-4AC727520BA8}"/>
              </a:ext>
            </a:extLst>
          </p:cNvPr>
          <p:cNvSpPr/>
          <p:nvPr/>
        </p:nvSpPr>
        <p:spPr>
          <a:xfrm>
            <a:off x="4291626" y="3248389"/>
            <a:ext cx="1201118" cy="1291525"/>
          </a:xfrm>
          <a:prstGeom prst="rightArrow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4A8F35-56D8-E2F5-703C-1A3CF02FFB15}"/>
              </a:ext>
            </a:extLst>
          </p:cNvPr>
          <p:cNvSpPr>
            <a:spLocks noGrp="1"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Hyperparameter Optimization</a:t>
            </a:r>
          </a:p>
        </p:txBody>
      </p:sp>
      <p:cxnSp>
        <p:nvCxnSpPr>
          <p:cNvPr id="3" name="Connector: Curved 2">
            <a:extLst>
              <a:ext uri="{FF2B5EF4-FFF2-40B4-BE49-F238E27FC236}">
                <a16:creationId xmlns:a16="http://schemas.microsoft.com/office/drawing/2014/main" id="{6A2D9E9D-E0A4-7702-3AA5-1388D27C0711}"/>
              </a:ext>
            </a:extLst>
          </p:cNvPr>
          <p:cNvCxnSpPr/>
          <p:nvPr/>
        </p:nvCxnSpPr>
        <p:spPr>
          <a:xfrm>
            <a:off x="5772000" y="2292000"/>
            <a:ext cx="816000" cy="1056000"/>
          </a:xfrm>
          <a:prstGeom prst="curved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00FB0B-AA49-7020-E1C1-9C4B31D77BE8}"/>
              </a:ext>
            </a:extLst>
          </p:cNvPr>
          <p:cNvSpPr txBox="1"/>
          <p:nvPr/>
        </p:nvSpPr>
        <p:spPr>
          <a:xfrm>
            <a:off x="3864000" y="1902000"/>
            <a:ext cx="1908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ML Evaluation (e.g. MAE, F1)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0D48A9-5349-2C49-433C-D9D77BB1BCA1}"/>
              </a:ext>
            </a:extLst>
          </p:cNvPr>
          <p:cNvSpPr/>
          <p:nvPr/>
        </p:nvSpPr>
        <p:spPr>
          <a:xfrm>
            <a:off x="636000" y="1926000"/>
            <a:ext cx="3000000" cy="118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71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 descr="A diagram of a structure&#10;&#10;AI-generated content may be incorrect.">
            <a:extLst>
              <a:ext uri="{FF2B5EF4-FFF2-40B4-BE49-F238E27FC236}">
                <a16:creationId xmlns:a16="http://schemas.microsoft.com/office/drawing/2014/main" id="{D17A6912-1D1E-1207-D4FC-130DD1E39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6051" y="1607268"/>
            <a:ext cx="10680915" cy="3522865"/>
          </a:xfrm>
          <a:prstGeom prst="rect">
            <a:avLst/>
          </a:prstGeom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EF828E7-5B90-AC97-15A1-265C0C52A2DF}"/>
              </a:ext>
            </a:extLst>
          </p:cNvPr>
          <p:cNvSpPr/>
          <p:nvPr/>
        </p:nvSpPr>
        <p:spPr>
          <a:xfrm>
            <a:off x="5515728" y="4554523"/>
            <a:ext cx="2208508" cy="6845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F5334-EE54-6824-A189-EBBA78893652}"/>
              </a:ext>
            </a:extLst>
          </p:cNvPr>
          <p:cNvSpPr/>
          <p:nvPr/>
        </p:nvSpPr>
        <p:spPr>
          <a:xfrm>
            <a:off x="8421661" y="4485706"/>
            <a:ext cx="2750948" cy="82011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16AA5B8F-98E0-92E9-68C5-8ACDC8757CB6}"/>
              </a:ext>
            </a:extLst>
          </p:cNvPr>
          <p:cNvSpPr txBox="1"/>
          <p:nvPr/>
        </p:nvSpPr>
        <p:spPr>
          <a:xfrm>
            <a:off x="378000" y="6168000"/>
            <a:ext cx="7590000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Figure from Pakala et al. </a:t>
            </a:r>
            <a:r>
              <a:rPr lang="en-US" i="1" dirty="0"/>
              <a:t>International Conference on Big Data </a:t>
            </a:r>
            <a:r>
              <a:rPr lang="en-US" dirty="0"/>
              <a:t>(2024)</a:t>
            </a:r>
          </a:p>
        </p:txBody>
      </p:sp>
    </p:spTree>
    <p:extLst>
      <p:ext uri="{BB962C8B-B14F-4D97-AF65-F5344CB8AC3E}">
        <p14:creationId xmlns:p14="http://schemas.microsoft.com/office/powerpoint/2010/main" val="4134168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diagram of a structure&#10;&#10;AI-generated content may be incorrect.">
            <a:extLst>
              <a:ext uri="{FF2B5EF4-FFF2-40B4-BE49-F238E27FC236}">
                <a16:creationId xmlns:a16="http://schemas.microsoft.com/office/drawing/2014/main" id="{93B079D4-F209-D0C8-ADA3-DA95009DDD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2507" y="1251151"/>
            <a:ext cx="10488815" cy="435133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2306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AD37D-8970-345D-43E5-0C4C2F327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pic>
        <p:nvPicPr>
          <p:cNvPr id="4" name="Content Placeholder 3" descr="A diagram of a number of trees&#10;&#10;AI-generated content may be incorrect.">
            <a:extLst>
              <a:ext uri="{FF2B5EF4-FFF2-40B4-BE49-F238E27FC236}">
                <a16:creationId xmlns:a16="http://schemas.microsoft.com/office/drawing/2014/main" id="{EC9890B1-82F9-963E-380A-08AA0441CC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80165" y="1025894"/>
            <a:ext cx="5171670" cy="4558800"/>
          </a:xfrm>
          <a:prstGeom prst="rect">
            <a:avLst/>
          </a:prstGeom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374FCC-BCD0-44DC-14C7-F470E1CEF56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5151600" cy="432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Exhaustively traverse search space &amp; record performance</a:t>
            </a:r>
          </a:p>
          <a:p>
            <a:endParaRPr lang="en-US" dirty="0"/>
          </a:p>
          <a:p>
            <a:r>
              <a:rPr lang="en-US" dirty="0"/>
              <a:t>Remove majority of entries (90-99%) to see how well we can predict them back</a:t>
            </a:r>
          </a:p>
        </p:txBody>
      </p:sp>
    </p:spTree>
    <p:extLst>
      <p:ext uri="{BB962C8B-B14F-4D97-AF65-F5344CB8AC3E}">
        <p14:creationId xmlns:p14="http://schemas.microsoft.com/office/powerpoint/2010/main" val="3708919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F771B-E06E-C9E2-1CD5-898E8CE82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FCB478-5654-0890-7D2B-B30BEF4E99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000" y="1691610"/>
            <a:ext cx="10878000" cy="372536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8768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3AA4B-484C-89CA-B429-7C730F3EC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6145C-F3C1-A580-29CE-C2E499E7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E5ADA-BA5D-AE1C-2306-A8981A39A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Background</a:t>
            </a:r>
          </a:p>
          <a:p>
            <a:r>
              <a:rPr lang="en-US" dirty="0">
                <a:solidFill>
                  <a:srgbClr val="000000"/>
                </a:solidFill>
              </a:rPr>
              <a:t>Automating Data Science Pipelines with Tensor Completion</a:t>
            </a:r>
          </a:p>
          <a:p>
            <a:r>
              <a:rPr lang="en-US" b="1" dirty="0">
                <a:solidFill>
                  <a:srgbClr val="0070C0"/>
                </a:solidFill>
              </a:rPr>
              <a:t>Surrogate Modeling for the Design of Optimal Lattice Structures using Tensor Completion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123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1FDBD2-DFFF-815D-134D-D04FF6DA3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99" y="1810756"/>
            <a:ext cx="6918301" cy="1620226"/>
          </a:xfrm>
          <a:prstGeom prst="rect">
            <a:avLst/>
          </a:prstGeom>
          <a:ln>
            <a:noFill/>
          </a:ln>
        </p:spPr>
      </p:pic>
      <p:pic>
        <p:nvPicPr>
          <p:cNvPr id="7" name="Picture 6" descr="A diagram of a cylinder&#10;&#10;AI-generated content may be incorrect.">
            <a:extLst>
              <a:ext uri="{FF2B5EF4-FFF2-40B4-BE49-F238E27FC236}">
                <a16:creationId xmlns:a16="http://schemas.microsoft.com/office/drawing/2014/main" id="{3F927BCE-4A89-AD75-1B77-C1CAE53C65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2600" y="1577373"/>
            <a:ext cx="4208283" cy="4358938"/>
          </a:xfrm>
          <a:prstGeom prst="rect">
            <a:avLst/>
          </a:prstGeom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EA7CD0E-E830-AAED-B915-40630C059301}"/>
              </a:ext>
            </a:extLst>
          </p:cNvPr>
          <p:cNvSpPr txBox="1"/>
          <p:nvPr/>
        </p:nvSpPr>
        <p:spPr>
          <a:xfrm>
            <a:off x="378000" y="6168000"/>
            <a:ext cx="534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Figure from Gongora et al. </a:t>
            </a:r>
            <a:r>
              <a:rPr lang="en-US" i="1" dirty="0"/>
              <a:t>Scientific Reports</a:t>
            </a:r>
            <a:r>
              <a:rPr lang="en-US" dirty="0"/>
              <a:t> (2024)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980F96-5C8B-EF29-0C20-3F47103E9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200" y="3901625"/>
            <a:ext cx="6075600" cy="1843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With many "hyperparamters" for designing this material, how do we find the optimal configuration?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B5CE44-B2F2-3DB9-0F9B-04974335D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Designing an Optimal Material</a:t>
            </a:r>
          </a:p>
        </p:txBody>
      </p:sp>
    </p:spTree>
    <p:extLst>
      <p:ext uri="{BB962C8B-B14F-4D97-AF65-F5344CB8AC3E}">
        <p14:creationId xmlns:p14="http://schemas.microsoft.com/office/powerpoint/2010/main" val="32710911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be 7">
            <a:extLst>
              <a:ext uri="{FF2B5EF4-FFF2-40B4-BE49-F238E27FC236}">
                <a16:creationId xmlns:a16="http://schemas.microsoft.com/office/drawing/2014/main" id="{01AFB1B2-B734-9531-2F63-7BDBBB19FB86}"/>
              </a:ext>
            </a:extLst>
          </p:cNvPr>
          <p:cNvSpPr/>
          <p:nvPr/>
        </p:nvSpPr>
        <p:spPr>
          <a:xfrm>
            <a:off x="7839954" y="1021122"/>
            <a:ext cx="3743030" cy="3417962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59445F-61BF-CE53-D200-A15ADF55EE96}"/>
              </a:ext>
            </a:extLst>
          </p:cNvPr>
          <p:cNvSpPr/>
          <p:nvPr/>
        </p:nvSpPr>
        <p:spPr>
          <a:xfrm>
            <a:off x="2739174" y="1677542"/>
            <a:ext cx="483809" cy="3628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D076158-541E-01ED-AF5E-F0430D783744}"/>
              </a:ext>
            </a:extLst>
          </p:cNvPr>
          <p:cNvSpPr/>
          <p:nvPr/>
        </p:nvSpPr>
        <p:spPr>
          <a:xfrm rot="10800000">
            <a:off x="6510834" y="64065"/>
            <a:ext cx="261688" cy="1536375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45AEF3-4A25-7B53-EFAA-3A9DEBC26442}"/>
              </a:ext>
            </a:extLst>
          </p:cNvPr>
          <p:cNvSpPr txBox="1"/>
          <p:nvPr/>
        </p:nvSpPr>
        <p:spPr>
          <a:xfrm rot="18900000">
            <a:off x="7213965" y="1048782"/>
            <a:ext cx="1548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Geometry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B1FDEB1-103E-9D28-BD35-8A87B1289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202" y="176645"/>
            <a:ext cx="5931784" cy="1388905"/>
          </a:xfrm>
          <a:prstGeom prst="rect">
            <a:avLst/>
          </a:prstGeom>
          <a:ln>
            <a:noFill/>
          </a:ln>
        </p:spPr>
      </p:pic>
      <p:pic>
        <p:nvPicPr>
          <p:cNvPr id="15" name="Picture 14" descr="A diagram of a cylinder&#10;&#10;AI-generated content may be incorrect.">
            <a:extLst>
              <a:ext uri="{FF2B5EF4-FFF2-40B4-BE49-F238E27FC236}">
                <a16:creationId xmlns:a16="http://schemas.microsoft.com/office/drawing/2014/main" id="{D0CA8715-3FF6-274C-5413-1B0DDB802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712" y="1749504"/>
            <a:ext cx="4208283" cy="4358938"/>
          </a:xfrm>
          <a:prstGeom prst="rect">
            <a:avLst/>
          </a:prstGeom>
          <a:ln>
            <a:noFill/>
          </a:ln>
        </p:spPr>
      </p:pic>
      <p:sp>
        <p:nvSpPr>
          <p:cNvPr id="19" name="Left Brace 18">
            <a:extLst>
              <a:ext uri="{FF2B5EF4-FFF2-40B4-BE49-F238E27FC236}">
                <a16:creationId xmlns:a16="http://schemas.microsoft.com/office/drawing/2014/main" id="{F464A513-6DBA-36AC-62A6-D6CA4427F6B3}"/>
              </a:ext>
            </a:extLst>
          </p:cNvPr>
          <p:cNvSpPr/>
          <p:nvPr/>
        </p:nvSpPr>
        <p:spPr>
          <a:xfrm rot="10800000">
            <a:off x="5577172" y="3737461"/>
            <a:ext cx="279688" cy="139396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29F6DC-792A-4170-8410-5E81633B9C5E}"/>
              </a:ext>
            </a:extLst>
          </p:cNvPr>
          <p:cNvSpPr txBox="1"/>
          <p:nvPr/>
        </p:nvSpPr>
        <p:spPr>
          <a:xfrm>
            <a:off x="7146324" y="2838372"/>
            <a:ext cx="576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A6A6F5-16D8-E6B1-FAB6-4D3E5E81C025}"/>
              </a:ext>
            </a:extLst>
          </p:cNvPr>
          <p:cNvSpPr txBox="1"/>
          <p:nvPr/>
        </p:nvSpPr>
        <p:spPr>
          <a:xfrm>
            <a:off x="8698888" y="4441962"/>
            <a:ext cx="1548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UC</a:t>
            </a:r>
            <a:r>
              <a:rPr lang="en-US" sz="2400" baseline="-25000" dirty="0"/>
              <a:t>x/y/z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60FE199C-E157-6535-E84A-654F3E9307C2}"/>
              </a:ext>
            </a:extLst>
          </p:cNvPr>
          <p:cNvSpPr/>
          <p:nvPr/>
        </p:nvSpPr>
        <p:spPr>
          <a:xfrm rot="10800000">
            <a:off x="5397172" y="1859461"/>
            <a:ext cx="303688" cy="1393964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DE8D442-214F-16B6-7D89-271D879D5F52}"/>
              </a:ext>
            </a:extLst>
          </p:cNvPr>
          <p:cNvCxnSpPr/>
          <p:nvPr/>
        </p:nvCxnSpPr>
        <p:spPr>
          <a:xfrm>
            <a:off x="6813661" y="847119"/>
            <a:ext cx="972000" cy="3480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8224359-045B-402C-1708-31BBD5CFA726}"/>
              </a:ext>
            </a:extLst>
          </p:cNvPr>
          <p:cNvCxnSpPr>
            <a:cxnSpLocks/>
          </p:cNvCxnSpPr>
          <p:nvPr/>
        </p:nvCxnSpPr>
        <p:spPr>
          <a:xfrm>
            <a:off x="5855756" y="2606281"/>
            <a:ext cx="1401636" cy="429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3DE3CC4-3F1C-CCC8-2153-F45D9B9D0275}"/>
              </a:ext>
            </a:extLst>
          </p:cNvPr>
          <p:cNvCxnSpPr>
            <a:cxnSpLocks/>
          </p:cNvCxnSpPr>
          <p:nvPr/>
        </p:nvCxnSpPr>
        <p:spPr>
          <a:xfrm>
            <a:off x="6046966" y="4441494"/>
            <a:ext cx="2713943" cy="2230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FB725E7-9469-7E9F-CDD7-366D5198BD7B}"/>
              </a:ext>
            </a:extLst>
          </p:cNvPr>
          <p:cNvSpPr/>
          <p:nvPr/>
        </p:nvSpPr>
        <p:spPr>
          <a:xfrm>
            <a:off x="8283357" y="3465361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7FC7368-1A6D-0832-0C29-1D914E665115}"/>
              </a:ext>
            </a:extLst>
          </p:cNvPr>
          <p:cNvSpPr txBox="1"/>
          <p:nvPr/>
        </p:nvSpPr>
        <p:spPr>
          <a:xfrm>
            <a:off x="8278215" y="3509025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B7FFFD5-2823-2720-EBD6-DFC8B212EB67}"/>
              </a:ext>
            </a:extLst>
          </p:cNvPr>
          <p:cNvSpPr/>
          <p:nvPr/>
        </p:nvSpPr>
        <p:spPr>
          <a:xfrm>
            <a:off x="9325716" y="2092323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514E5E-2231-DEA0-EFB5-5C4EB8B64ED9}"/>
              </a:ext>
            </a:extLst>
          </p:cNvPr>
          <p:cNvSpPr txBox="1"/>
          <p:nvPr/>
        </p:nvSpPr>
        <p:spPr>
          <a:xfrm>
            <a:off x="9320574" y="2135987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0.7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DD2A5A73-CF00-9754-1CA3-72DECFBDBB26}"/>
              </a:ext>
            </a:extLst>
          </p:cNvPr>
          <p:cNvSpPr/>
          <p:nvPr/>
        </p:nvSpPr>
        <p:spPr>
          <a:xfrm>
            <a:off x="9645611" y="3181407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733270-AE29-6235-2519-EE969E5BF6B4}"/>
              </a:ext>
            </a:extLst>
          </p:cNvPr>
          <p:cNvSpPr txBox="1"/>
          <p:nvPr/>
        </p:nvSpPr>
        <p:spPr>
          <a:xfrm>
            <a:off x="9640469" y="3225071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98C4FD3-3098-259F-2F8E-2839018B8187}"/>
              </a:ext>
            </a:extLst>
          </p:cNvPr>
          <p:cNvSpPr/>
          <p:nvPr/>
        </p:nvSpPr>
        <p:spPr>
          <a:xfrm>
            <a:off x="9468252" y="1138970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A92D24A-7020-FEE3-82AD-E3A9F298E128}"/>
              </a:ext>
            </a:extLst>
          </p:cNvPr>
          <p:cNvSpPr txBox="1"/>
          <p:nvPr/>
        </p:nvSpPr>
        <p:spPr>
          <a:xfrm>
            <a:off x="9463110" y="1182634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F1E9B-EC4F-76CD-34E2-B5FAA3CBB0BA}"/>
              </a:ext>
            </a:extLst>
          </p:cNvPr>
          <p:cNvSpPr txBox="1"/>
          <p:nvPr/>
        </p:nvSpPr>
        <p:spPr>
          <a:xfrm>
            <a:off x="378000" y="6168000"/>
            <a:ext cx="53460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Figure from Gongora et al. </a:t>
            </a:r>
            <a:r>
              <a:rPr lang="en-US" i="1" dirty="0"/>
              <a:t>Scientific Reports</a:t>
            </a:r>
            <a:r>
              <a:rPr lang="en-US" dirty="0"/>
              <a:t> (2024)</a:t>
            </a:r>
          </a:p>
        </p:txBody>
      </p:sp>
    </p:spTree>
    <p:extLst>
      <p:ext uri="{BB962C8B-B14F-4D97-AF65-F5344CB8AC3E}">
        <p14:creationId xmlns:p14="http://schemas.microsoft.com/office/powerpoint/2010/main" val="502409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be 5">
            <a:extLst>
              <a:ext uri="{FF2B5EF4-FFF2-40B4-BE49-F238E27FC236}">
                <a16:creationId xmlns:a16="http://schemas.microsoft.com/office/drawing/2014/main" id="{063372C8-0E0C-94E0-39BE-BDF82198E3B5}"/>
              </a:ext>
            </a:extLst>
          </p:cNvPr>
          <p:cNvSpPr/>
          <p:nvPr/>
        </p:nvSpPr>
        <p:spPr>
          <a:xfrm>
            <a:off x="882394" y="1509970"/>
            <a:ext cx="3743030" cy="3417962"/>
          </a:xfrm>
          <a:prstGeom prst="cub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EF61F0-4372-0484-6C91-A7C7BE25EE1B}"/>
              </a:ext>
            </a:extLst>
          </p:cNvPr>
          <p:cNvSpPr txBox="1"/>
          <p:nvPr/>
        </p:nvSpPr>
        <p:spPr>
          <a:xfrm rot="18900000">
            <a:off x="256405" y="1537630"/>
            <a:ext cx="1548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Geometry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56EC77-C0A9-D1D1-2303-A3782630AF7A}"/>
              </a:ext>
            </a:extLst>
          </p:cNvPr>
          <p:cNvSpPr txBox="1"/>
          <p:nvPr/>
        </p:nvSpPr>
        <p:spPr>
          <a:xfrm>
            <a:off x="188764" y="3327220"/>
            <a:ext cx="576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408512-DB22-5656-56ED-B1924739BF8C}"/>
              </a:ext>
            </a:extLst>
          </p:cNvPr>
          <p:cNvSpPr txBox="1"/>
          <p:nvPr/>
        </p:nvSpPr>
        <p:spPr>
          <a:xfrm>
            <a:off x="1741329" y="4930810"/>
            <a:ext cx="1548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UC</a:t>
            </a:r>
            <a:r>
              <a:rPr lang="en-US" sz="2400" baseline="-25000" dirty="0"/>
              <a:t>x/y/z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D6A0DFF-800A-73B5-5BF1-90F0D67B4487}"/>
              </a:ext>
            </a:extLst>
          </p:cNvPr>
          <p:cNvSpPr/>
          <p:nvPr/>
        </p:nvSpPr>
        <p:spPr>
          <a:xfrm>
            <a:off x="1325798" y="3954209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AB8731C-39B6-7FD9-B749-27872B738788}"/>
              </a:ext>
            </a:extLst>
          </p:cNvPr>
          <p:cNvSpPr txBox="1"/>
          <p:nvPr/>
        </p:nvSpPr>
        <p:spPr>
          <a:xfrm>
            <a:off x="1320656" y="3997873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5D9EF4-5F89-822A-57B3-07F9810A807C}"/>
              </a:ext>
            </a:extLst>
          </p:cNvPr>
          <p:cNvSpPr/>
          <p:nvPr/>
        </p:nvSpPr>
        <p:spPr>
          <a:xfrm>
            <a:off x="2368156" y="2581171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C79DF0-B253-A342-CD1F-FA3FD243CDB6}"/>
              </a:ext>
            </a:extLst>
          </p:cNvPr>
          <p:cNvSpPr txBox="1"/>
          <p:nvPr/>
        </p:nvSpPr>
        <p:spPr>
          <a:xfrm>
            <a:off x="2363014" y="2624835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0.7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671CADB-8E83-286C-DE07-6DC69948C091}"/>
              </a:ext>
            </a:extLst>
          </p:cNvPr>
          <p:cNvSpPr/>
          <p:nvPr/>
        </p:nvSpPr>
        <p:spPr>
          <a:xfrm>
            <a:off x="2688052" y="3670255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D1779F-C0A4-40F3-5EB7-910D5F2A90EE}"/>
              </a:ext>
            </a:extLst>
          </p:cNvPr>
          <p:cNvSpPr txBox="1"/>
          <p:nvPr/>
        </p:nvSpPr>
        <p:spPr>
          <a:xfrm>
            <a:off x="2682910" y="3713919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0.8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1248F4A-E18D-303D-D486-B974058ECA8E}"/>
              </a:ext>
            </a:extLst>
          </p:cNvPr>
          <p:cNvSpPr/>
          <p:nvPr/>
        </p:nvSpPr>
        <p:spPr>
          <a:xfrm>
            <a:off x="2510692" y="1627818"/>
            <a:ext cx="459581" cy="460934"/>
          </a:xfrm>
          <a:prstGeom prst="ellips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E3B08A-5A89-3C59-CF4F-2B705535777A}"/>
              </a:ext>
            </a:extLst>
          </p:cNvPr>
          <p:cNvSpPr txBox="1"/>
          <p:nvPr/>
        </p:nvSpPr>
        <p:spPr>
          <a:xfrm>
            <a:off x="2505551" y="1671482"/>
            <a:ext cx="5528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0.8</a:t>
            </a:r>
          </a:p>
        </p:txBody>
      </p:sp>
      <p:sp>
        <p:nvSpPr>
          <p:cNvPr id="29" name="Cube 28">
            <a:extLst>
              <a:ext uri="{FF2B5EF4-FFF2-40B4-BE49-F238E27FC236}">
                <a16:creationId xmlns:a16="http://schemas.microsoft.com/office/drawing/2014/main" id="{978DE22C-61FA-C7F0-3106-B0D24CE72CE8}"/>
              </a:ext>
            </a:extLst>
          </p:cNvPr>
          <p:cNvSpPr/>
          <p:nvPr/>
        </p:nvSpPr>
        <p:spPr>
          <a:xfrm>
            <a:off x="7837259" y="1516428"/>
            <a:ext cx="3743030" cy="3417962"/>
          </a:xfrm>
          <a:prstGeom prst="cube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421EA27C-4806-DFBC-59C7-AF0D0054A6C3}"/>
              </a:ext>
            </a:extLst>
          </p:cNvPr>
          <p:cNvSpPr/>
          <p:nvPr/>
        </p:nvSpPr>
        <p:spPr>
          <a:xfrm>
            <a:off x="4867626" y="2099084"/>
            <a:ext cx="2839728" cy="2271761"/>
          </a:xfrm>
          <a:prstGeom prst="rightArrow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ML Surrogate Model (Tensor Completion)</a:t>
            </a:r>
          </a:p>
        </p:txBody>
      </p:sp>
    </p:spTree>
    <p:extLst>
      <p:ext uri="{BB962C8B-B14F-4D97-AF65-F5344CB8AC3E}">
        <p14:creationId xmlns:p14="http://schemas.microsoft.com/office/powerpoint/2010/main" val="223794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white cube with green dots&#10;&#10;AI-generated content may be incorrect.">
            <a:extLst>
              <a:ext uri="{FF2B5EF4-FFF2-40B4-BE49-F238E27FC236}">
                <a16:creationId xmlns:a16="http://schemas.microsoft.com/office/drawing/2014/main" id="{920AC3C6-D7CB-1A35-A845-E305852F2D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45502" y="1055894"/>
            <a:ext cx="4588996" cy="4114800"/>
          </a:xfrm>
          <a:prstGeom prst="rect">
            <a:avLst/>
          </a:prstGeom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3F380E-0A65-58DB-120E-4EC374B3920A}"/>
              </a:ext>
            </a:extLst>
          </p:cNvPr>
          <p:cNvSpPr txBox="1"/>
          <p:nvPr/>
        </p:nvSpPr>
        <p:spPr>
          <a:xfrm rot="18900000">
            <a:off x="5524405" y="1537630"/>
            <a:ext cx="1548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Geometry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20E67-F465-3142-0DD8-39A7236129F9}"/>
              </a:ext>
            </a:extLst>
          </p:cNvPr>
          <p:cNvSpPr txBox="1"/>
          <p:nvPr/>
        </p:nvSpPr>
        <p:spPr>
          <a:xfrm>
            <a:off x="5456764" y="3327220"/>
            <a:ext cx="576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13DE18-8393-C088-5171-F20942B72772}"/>
              </a:ext>
            </a:extLst>
          </p:cNvPr>
          <p:cNvSpPr txBox="1"/>
          <p:nvPr/>
        </p:nvSpPr>
        <p:spPr>
          <a:xfrm>
            <a:off x="7009329" y="4930810"/>
            <a:ext cx="154842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UC</a:t>
            </a:r>
            <a:r>
              <a:rPr lang="en-US" sz="2400" baseline="-25000" dirty="0"/>
              <a:t>x/y/z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11D764-AE97-51C4-2EC3-A2853A4843A8}"/>
              </a:ext>
            </a:extLst>
          </p:cNvPr>
          <p:cNvSpPr txBox="1"/>
          <p:nvPr/>
        </p:nvSpPr>
        <p:spPr>
          <a:xfrm>
            <a:off x="696000" y="2478000"/>
            <a:ext cx="409800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dirty="0"/>
              <a:t>What happens when search space is unevenly sampled?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24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92EDF8C-6230-D694-CE69-BA543F854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8000" y="1693393"/>
            <a:ext cx="8610000" cy="4267802"/>
          </a:xfrm>
          <a:prstGeom prst="rect">
            <a:avLst/>
          </a:prstGeom>
          <a:ln>
            <a:noFill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0435888F-2598-52B7-EDE7-0F8468A16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7805336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Surrogate modeling for efficient science with tensor completion</vt:lpstr>
      <vt:lpstr>Topics</vt:lpstr>
      <vt:lpstr>Topics</vt:lpstr>
      <vt:lpstr>Tensors</vt:lpstr>
      <vt:lpstr>Tensor Decomposition</vt:lpstr>
      <vt:lpstr>Tensor Decomposition</vt:lpstr>
      <vt:lpstr>Tensor Completion</vt:lpstr>
      <vt:lpstr>Topics</vt:lpstr>
      <vt:lpstr>PowerPoint Presentation</vt:lpstr>
      <vt:lpstr>PowerPoint Presentation</vt:lpstr>
      <vt:lpstr>PowerPoint Presentation</vt:lpstr>
      <vt:lpstr>Evaluation</vt:lpstr>
      <vt:lpstr>Results</vt:lpstr>
      <vt:lpstr>Topics</vt:lpstr>
      <vt:lpstr>Designing an Optimal Material</vt:lpstr>
      <vt:lpstr>PowerPoint Presentation</vt:lpstr>
      <vt:lpstr>PowerPoint Presentation</vt:lpstr>
      <vt:lpstr>PowerPoint Presentation</vt:lpstr>
      <vt:lpstr>Results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692</cp:revision>
  <dcterms:created xsi:type="dcterms:W3CDTF">2025-09-30T22:23:25Z</dcterms:created>
  <dcterms:modified xsi:type="dcterms:W3CDTF">2025-11-05T18:24:56Z</dcterms:modified>
</cp:coreProperties>
</file>